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8" r:id="rId1"/>
  </p:sldMasterIdLst>
  <p:notesMasterIdLst>
    <p:notesMasterId r:id="rId14"/>
  </p:notesMasterIdLst>
  <p:handoutMasterIdLst>
    <p:handoutMasterId r:id="rId15"/>
  </p:handoutMasterIdLst>
  <p:sldIdLst>
    <p:sldId id="283" r:id="rId2"/>
    <p:sldId id="308" r:id="rId3"/>
    <p:sldId id="307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280" r:id="rId13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E8D0D622-F6C6-F44A-B365-B4A5FF6195C2}">
          <p14:sldIdLst>
            <p14:sldId id="283"/>
          </p14:sldIdLst>
        </p14:section>
        <p14:section name="Contents" id="{9D221634-295C-7843-AF5C-A0CB4F229241}">
          <p14:sldIdLst>
            <p14:sldId id="308"/>
          </p14:sldIdLst>
        </p14:section>
        <p14:section name="Main Content" id="{8B329A26-90A3-4BA4-87BF-D0343B7D7105}">
          <p14:sldIdLst>
            <p14:sldId id="307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End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F55B2"/>
    <a:srgbClr val="7C54B2"/>
    <a:srgbClr val="000000"/>
    <a:srgbClr val="E9002F"/>
    <a:srgbClr val="595757"/>
    <a:srgbClr val="221815"/>
    <a:srgbClr val="888888"/>
    <a:srgbClr val="898989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47" autoAdjust="0"/>
    <p:restoredTop sz="96291"/>
  </p:normalViewPr>
  <p:slideViewPr>
    <p:cSldViewPr snapToGrid="0" snapToObjects="1">
      <p:cViewPr varScale="1">
        <p:scale>
          <a:sx n="82" d="100"/>
          <a:sy n="82" d="100"/>
        </p:scale>
        <p:origin x="859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7C2FC9-9631-4B04-8806-91AAE0E43D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458" b="10293"/>
          <a:stretch/>
        </p:blipFill>
        <p:spPr>
          <a:xfrm>
            <a:off x="0" y="705853"/>
            <a:ext cx="10698251" cy="61521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E8153E-3DBF-4D97-AF70-417D2E8FD5C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5700" y="2823634"/>
            <a:ext cx="4569290" cy="28631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72971ED-30BE-4BB7-A7FC-58E99ABE34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72093" y="1242866"/>
            <a:ext cx="7447814" cy="3206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284950"/>
            <a:ext cx="1670400" cy="252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C761824-8A86-4A53-A948-DA278761AEA1}"/>
              </a:ext>
            </a:extLst>
          </p:cNvPr>
          <p:cNvGrpSpPr/>
          <p:nvPr userDrawn="1"/>
        </p:nvGrpSpPr>
        <p:grpSpPr>
          <a:xfrm>
            <a:off x="492792" y="913343"/>
            <a:ext cx="10216988" cy="5927174"/>
            <a:chOff x="0" y="705853"/>
            <a:chExt cx="10698251" cy="615214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57C2FC9-9631-4B04-8806-91AAE0E43D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458" b="10293"/>
            <a:stretch/>
          </p:blipFill>
          <p:spPr>
            <a:xfrm>
              <a:off x="0" y="705853"/>
              <a:ext cx="10698251" cy="615214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E8153E-3DBF-4D97-AF70-417D2E8FD5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3695700" y="2823634"/>
              <a:ext cx="4569290" cy="2863176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78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D3F9042-AD85-40B7-84EA-C4AF36516D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04F956-219B-4855-B97B-3ABC6971BC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7059" y="6459213"/>
            <a:ext cx="1298768" cy="13946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B481B24-695E-4D2C-A960-2E1D8114134C}"/>
              </a:ext>
            </a:extLst>
          </p:cNvPr>
          <p:cNvGrpSpPr/>
          <p:nvPr userDrawn="1"/>
        </p:nvGrpSpPr>
        <p:grpSpPr>
          <a:xfrm>
            <a:off x="-43804" y="5688818"/>
            <a:ext cx="2135425" cy="1158057"/>
            <a:chOff x="0" y="5502887"/>
            <a:chExt cx="2530154" cy="135511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8CA359D-45DC-47C0-BEDC-02D008F42DB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3507" b="26666"/>
            <a:stretch/>
          </p:blipFill>
          <p:spPr>
            <a:xfrm>
              <a:off x="0" y="5502887"/>
              <a:ext cx="2530154" cy="135511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CF2A067-3C81-42FF-9DAA-F63FBAC038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643352" y="6073512"/>
              <a:ext cx="1231172" cy="7714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00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00BB559-EEF9-4E85-A578-496E3EE22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图片 6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BB7CEA9B-A49B-449D-966F-1744DA599B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9C7197F-DADA-4DD6-B28C-9169E8761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4820" b="26666"/>
          <a:stretch/>
        </p:blipFill>
        <p:spPr>
          <a:xfrm>
            <a:off x="-1" y="4002681"/>
            <a:ext cx="4633911" cy="28553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9DD86E4-B5BF-4FFA-89A1-8A4BB01492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8282" y="5205029"/>
            <a:ext cx="2594169" cy="16255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CE11B0-FE4F-41DC-B6CC-1A088AC650B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6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990D78-4F24-4F87-AEBB-C7DC9D5E46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904"/>
            <a:ext cx="12196763" cy="6858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86C84D7-91B9-4500-B035-25909359E376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Copyright©2025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A23F26E-44C1-4F77-B10B-E8B0C3D60B58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8" name="Subtitle 6">
            <a:extLst>
              <a:ext uri="{FF2B5EF4-FFF2-40B4-BE49-F238E27FC236}">
                <a16:creationId xmlns:a16="http://schemas.microsoft.com/office/drawing/2014/main" id="{70DE6001-D969-4A4A-9480-64359B5D347A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806CAE7B-57BD-4C74-9E9F-EB957C7B99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2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97" r:id="rId2"/>
    <p:sldLayoutId id="2147483820" r:id="rId3"/>
    <p:sldLayoutId id="2147483894" r:id="rId4"/>
    <p:sldLayoutId id="2147483896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1BEB8BA-9E95-4A29-ADF6-7B645959E7EF}"/>
              </a:ext>
            </a:extLst>
          </p:cNvPr>
          <p:cNvSpPr/>
          <p:nvPr/>
        </p:nvSpPr>
        <p:spPr>
          <a:xfrm>
            <a:off x="3473476" y="2036217"/>
            <a:ext cx="5138971" cy="10002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3600" b="1" dirty="0"/>
              <a:t>AgriChain</a:t>
            </a:r>
          </a:p>
          <a:p>
            <a:pPr>
              <a:spcBef>
                <a:spcPts val="600"/>
              </a:spcBef>
            </a:pPr>
            <a:r>
              <a:rPr sz="1800" b="1" dirty="0"/>
              <a:t>AI-Driven Sustainable Agriculture Ecosystem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4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0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E002A"/>
                </a:solidFill>
              </a:rPr>
              <a:t>Innovation: MindSpore-Powered Disease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Model Architecture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MobileNetV2 trained with MindSpore on Huawei ModelArts (Ascend acceleration).
Data pipeline: Resize(256) → RandomCrop(224) → RandomFlip → ColorJitter → Normalize(ImageNet) → HWC2CHW.
Loss: nn.SoftmaxCrossEntropyWithLogits  |  Optimizer: Adam (lr=0.0005)  |  Batch size: 32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Custom MindSpore Lite Flutter Plugin (First-of-its-Kind)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Built from scratch: Dart API → Platform Channel → Java/C++ JNI → MindSpore Lite C++ engine.
Enables .ms model inference directly inside Flutter. Open-source and reusable.
Methods: initModel(), predictImage(), disposeModel()  |  Channel: 'com.agrichain.mindspore'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End-to-End Training → Mobile Pipeline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Train on ModelArts → Export .mindir → converter_lite (--fmk=MINDIR --inputShape='1,3,224,224') → Optimized .ms → Bundled in Flutter assets → On-device real-time inference.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Two-Crop Multi-Class Detection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Maize: 4 classes — Blight, Common Rust, Gray Leaf Spot, Healthy
• Coffee: 3 classes — Healthy Leaves, Leaf Rust, Phoma
• Both models achieve 97%+ validation accuracy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Edge Inference Performance (Snapdragon CPU)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Maize: Avg 42.15ms | P95 46.80ms | 23.72 FPS
• Coffee: Avg 41.80ms | P95 45.92ms | 23.92 FPS
• Cold-start load: 120ms | No thermal throttling | Fully offline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E002A"/>
                </a:solidFill>
              </a:rPr>
              <a:t>Innovation: AI Predictions → Bankable Digital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A1A1A"/>
                </a:solidFill>
              </a:rPr>
              <a:t>Core Innovation: Yield Tokenization on Huawei BCS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666666"/>
                </a:solidFill>
              </a:rPr>
              <a:t>ML yield predictions tokenized into ERC-1155 'Future Harvest Contracts' on Hyperledger Fabric.
First system where an AI model output directly underpins a financial instrument for smallholder farmers.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1A1A1A"/>
                </a:solidFill>
              </a:rPr>
              <a:t>Smart Contract Architecture (Go </a:t>
            </a:r>
            <a:r>
              <a:rPr sz="1400" b="1" dirty="0" err="1">
                <a:solidFill>
                  <a:srgbClr val="1A1A1A"/>
                </a:solidFill>
              </a:rPr>
              <a:t>Chaincode</a:t>
            </a:r>
            <a:r>
              <a:rPr sz="1400" b="1" dirty="0">
                <a:solidFill>
                  <a:srgbClr val="1A1A1A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666666"/>
                </a:solidFill>
              </a:rPr>
              <a:t>• </a:t>
            </a:r>
            <a:r>
              <a:rPr sz="1000" dirty="0" err="1">
                <a:solidFill>
                  <a:srgbClr val="666666"/>
                </a:solidFill>
              </a:rPr>
              <a:t>YieldAsset</a:t>
            </a:r>
            <a:r>
              <a:rPr sz="1000" dirty="0">
                <a:solidFill>
                  <a:srgbClr val="666666"/>
                </a:solidFill>
              </a:rPr>
              <a:t>: predicted yield, ML model version/hash, rover data hash, token amount, collateral status
• </a:t>
            </a:r>
            <a:r>
              <a:rPr sz="1000" dirty="0" err="1">
                <a:solidFill>
                  <a:srgbClr val="666666"/>
                </a:solidFill>
              </a:rPr>
              <a:t>LoanAgreement</a:t>
            </a:r>
            <a:r>
              <a:rPr sz="1000" dirty="0">
                <a:solidFill>
                  <a:srgbClr val="666666"/>
                </a:solidFill>
              </a:rPr>
              <a:t>: collateralized loans with interest rates, repayment tracking, liquidation prices
• </a:t>
            </a:r>
            <a:r>
              <a:rPr sz="1000" dirty="0" err="1">
                <a:solidFill>
                  <a:srgbClr val="666666"/>
                </a:solidFill>
              </a:rPr>
              <a:t>TokenTrade</a:t>
            </a:r>
            <a:r>
              <a:rPr sz="1000" dirty="0">
                <a:solidFill>
                  <a:srgbClr val="666666"/>
                </a:solidFill>
              </a:rPr>
              <a:t>: peer-to-peer marketplace trades between farmers and buyers
• 4-org consortium: </a:t>
            </a:r>
            <a:r>
              <a:rPr sz="1000" dirty="0" err="1">
                <a:solidFill>
                  <a:srgbClr val="666666"/>
                </a:solidFill>
              </a:rPr>
              <a:t>FarmerOrg</a:t>
            </a:r>
            <a:r>
              <a:rPr sz="1000" dirty="0">
                <a:solidFill>
                  <a:srgbClr val="666666"/>
                </a:solidFill>
              </a:rPr>
              <a:t>, </a:t>
            </a:r>
            <a:r>
              <a:rPr sz="1000" dirty="0" err="1">
                <a:solidFill>
                  <a:srgbClr val="666666"/>
                </a:solidFill>
              </a:rPr>
              <a:t>BankOrg</a:t>
            </a:r>
            <a:r>
              <a:rPr sz="1000" dirty="0">
                <a:solidFill>
                  <a:srgbClr val="666666"/>
                </a:solidFill>
              </a:rPr>
              <a:t>, </a:t>
            </a:r>
            <a:r>
              <a:rPr sz="1000" dirty="0" err="1">
                <a:solidFill>
                  <a:srgbClr val="666666"/>
                </a:solidFill>
              </a:rPr>
              <a:t>ExchangeOrg</a:t>
            </a:r>
            <a:r>
              <a:rPr sz="1000" dirty="0">
                <a:solidFill>
                  <a:srgbClr val="666666"/>
                </a:solidFill>
              </a:rPr>
              <a:t>, </a:t>
            </a:r>
            <a:r>
              <a:rPr sz="1000" dirty="0" err="1">
                <a:solidFill>
                  <a:srgbClr val="666666"/>
                </a:solidFill>
              </a:rPr>
              <a:t>GovernmentOrg</a:t>
            </a:r>
            <a:endParaRPr sz="1000" dirty="0">
              <a:solidFill>
                <a:srgbClr val="666666"/>
              </a:solidFill>
            </a:endParaRP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1A1A1A"/>
                </a:solidFill>
              </a:rPr>
              <a:t>Financial Inclusion Pipeline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666666"/>
                </a:solidFill>
              </a:rPr>
              <a:t>1. AI predicts 5,000 kg/ha maize with 95% confidence
2. Prediction tokenized → 5,000 AYW tokens created on BCS
3. Farmer locks tokens as collateral → bank loan at 12-18% APR (vs 25-40% informal)
4. At harvest → actual yield verified → tokens settled or traded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1A1A1A"/>
                </a:solidFill>
              </a:rPr>
              <a:t>Marketplace &amp; Payments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666666"/>
                </a:solidFill>
              </a:rPr>
              <a:t>• Token marketplace with </a:t>
            </a:r>
            <a:r>
              <a:rPr sz="1000" dirty="0" err="1">
                <a:solidFill>
                  <a:srgbClr val="666666"/>
                </a:solidFill>
              </a:rPr>
              <a:t>PesaPal</a:t>
            </a:r>
            <a:r>
              <a:rPr sz="1000" dirty="0">
                <a:solidFill>
                  <a:srgbClr val="666666"/>
                </a:solidFill>
              </a:rPr>
              <a:t> mobile money integration
• Direct farmer-to-buyer trading (eliminates middlemen)
• QR-code traceability for consumers (farm-to-fork)
• Immutable ledger for transparent supply chain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E002A"/>
                </a:solidFill>
              </a:rPr>
              <a:t>Innovation: ESP32 Autonomous Field-Mapping Rover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Hardware Platform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ESP32-WROOM-32D | WiFi AP + Bluetooth + Web UI + REST API
Motor driver (D0-D3) | 2× servo soil sampling mechanism
Full firmware: 2,089 lines of production code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7-in-1 Soil Sensor (TAIDCENT CWT-SOIL-NPKPHCTH-S)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RS485 Modbus RTU on Serial1 (GPIO 13/14, DE/RE on GPIO 27)
Registers: N(0x07DA), P(0x07E4), K(0x07EE), pH(0x07F8), Moisture(0x0802), Temp(0x080C), EC(0x0816)
Single-byte reads with CRC16 validation | Staggered non-blocking reads for real-time responsiveness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GPS Field Mapping &amp; Autonomous Navigation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TinyGPS++ on Serial2 (GPIO 16/17) with HDOP quality tracking
• Path recording with configurable waypoint intervals
• Kalman filtering for GPS path smoothing
• Autonomous waypoint-based navigation with distance tolerance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Huawei Cloud Integration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MQTT/TLS to Huawei IoT Device Access (IoTDA) — publishes GPS + NPK telemetry
• Receives remote commands (MOVE, SET_ROUTE) from cloud
• HTTP POST to AgriChain FastAPI backend every 10 seconds
• Enables real-time monitoring from the Flutter mobile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E002A"/>
                </a:solidFill>
              </a:rPr>
              <a:t>Technical Architecture: Six-Layer Modular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Layer 6 — Presentation Layer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Flutter Mobile App (23+ screens) | USSD/SMS Gateway for feature phones | Web Dashboard
Firebase Auth + Supabase data | Inclusive design — smartphones and basic phones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Layer 5 — Blockchain Layer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Huawei BCS | Hyperledger Fabric | Go Smart Contracts (ERC-1155)
4-org consortium (Farmer, Bank, Exchange, Government) | TLS certificate auth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Layer 4 — AI Intelligence Layer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MindSpore MobileNetV2 CNN (Disease) | DNN/LR (Yield Prediction)
On-device MindSpore Lite via custom Flutter plugin | ModelArts cloud training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Layer 3 — Backend Services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Python FastAPI on Huawei ECS | Yield prediction API | BCS gateway proxy
Rover session mgmt | PesaPal payments | Dockerized deployment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Layer 2 — Data Ingestion Layer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ESP32 Rover (GPS + NPK sensor) | Camera capture | Sentinel-2 satellite imagery
Weather forecast APIs | Sensor data pipeline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Layer 1 — Infrastructure Layer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Huawei Cloud ECS (compute) | OBS (object storage) | RDS (relational data)
IoTDA (IoT device mgmt) | HMS Core (mobile integration)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E002A"/>
                </a:solidFill>
              </a:rPr>
              <a:t>Huawei Technology Stack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MindSpore &amp; MindSpore Lite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Core AI framework for training MobileNetV2 models. Custom Flutter plugin wraps MS Lite C++ engine via JNI for ARM64 on-device inference at sub-50ms latency. Fully offline.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ModelArts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Cloud training platform with managed Jupyter notebooks, OBS dataset mounting, and Ascend AI processor acceleration for rapid model iteration and validation.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Blockchain Service (BCS)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Permissioned Hyperledger Fabric network. 4-organization consortium with TLS certificates. Hosts Go chaincode for yield tokenization, loan management, and token trading.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Huawei Cloud — ECS, OBS, RDS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FastAPI backend on ECS. OBS stores satellite imagery and sensor data (hybrid on/off-chain storage). RDS for structured farm/user data.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IoT Device Access (IoTDA)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ESP32 rover connects via MQTT/TLS. Publishes GPS + soil telemetry. Receives remote commands (movement, route setting). Real-time monitoring from mobile app.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HMS Core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Mobile app integration for push notifications, analytics, and Huawei device ecosystem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E002A"/>
                </a:solidFill>
              </a:rPr>
              <a:t>Application Value: 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For Farmers — Crop Protection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20% reduction in crop loss through early AI-driven disease detection
• 25% reduction in fertilizer/water waste via precision data from rover sensors
• Proactive farming — alerts weeks before visible symptoms appear
• Works offline in rural areas with no connectivity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For Farmer Income — Financial Inclusion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30-50% revenue increase through direct marketplace access (no middlemen)
• Affordable credit at 12-18% APR (vs 25-40% informal lending)
• Yield tokens accepted as collateral by banks and cooperatives
• PesaPal mobile money payments — no bank account needed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For Society — Sustainability &amp; SDGs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50% reduction in pre-market food waste via demand-matched future contracts
• Full farm-to-fork traceability combats food fraud
• Employment for independent verifiers in the community
• UN SDG #2 (Zero Hunger), #8 (Decent Work), #9 (Innovation), #12 (Responsible Consumption)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Scalability &amp; Target Market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Initial focus: Maize (staple for 300 million Africans) + Coffee
• USSD/SMS gateway for feature-phone farmers in rural areas
• Cloud-native on Huawei ECS — scales globally
• Modular design: add new crop models without app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E002A"/>
                </a:solidFill>
              </a:rPr>
              <a:t>Performance Benchmarks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AI Model Accuracy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Maize Disease: 97%+ accuracy (4 classes: Blight, Common Rust, Gray Leaf Spot, Healthy)
• Coffee Disease: 97%+ accuracy (3 classes: Healthy, Leaf Rust, Phoma)
• Trained with MindSpore MobileNetV2 on Huawei ModelArts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Inference Latency (Edge CPU — Snapdragon)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Maize:  Avg 42.15ms | P95 46.80ms | P99 51.20ms | 23.72 FPS
• Coffee: Avg 41.80ms | P95 45.92ms | P99 49.15ms | 23.92 FPS
• Cold-start model load: 120ms | No thermal throttling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Key Technical Achievements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• First MindSpore Lite Flutter plugin (open-source)
• Fully offline inference — no network required
• Runs on budget ARM64 Android devices
• Sub-50ms latency = real-time user feedback
• Model hot-swap between maize &amp; coffee without restart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Reproducibility (4 Steps)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1. Train: Upload dataset to OBS → Run mindspore_disease_training2.ipynb on ModelArts → Download .ms files
2. Backend: cd backend/backend &amp;&amp; pip install -r requirements.txt &amp;&amp; uvicorn agrichain.main:app --port 8000
3. Blockchain: Upload Go chaincode to Huawei BCS → Install on peers → Instantiate with InitLedger
4. App: cd agri-chain &amp;&amp; flutter pub get &amp;&amp; flutter run --release on ARM64 Android device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E002A"/>
                </a:solidFill>
              </a:rPr>
              <a:t>Completeness: 5 Production-Ready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/agri-chain — Flutter Mobile App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23+ screens: Disease diagnosis camera, yield prediction, blockchain wallet hub, token marketplace, loan applications, contracts management, traceability scanner, rover control panel, admin dashboard. Firebase Auth + Supabase hybrid architecture.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/mindspore_lite_flutter — Custom Flutter Plugin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Dart API → Platform Channel → Java/C++ JNI → MindSpore Lite C++ engine.
Methods: initModel(), predictImage(), disposeModel(). Model hot-swap support. Reusable open-source plugin.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/backend/backend — Python FastAPI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Yield prediction endpoint (Linear Regression), BCS gateway proxy, sensor data ingestion from rover, rover session management. Dockerized for Huawei ECS. SQLite + joblib model persistence.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/blockchain/agri-yield-blockchain — Go Chaincode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Hyperledger Fabric smart contracts: CreateYieldAsset, GetAssetByID, GetBalance, GetAssetsByFarmer, LoanAgreement lifecycle, TokenTrade execution. 353 lines deployed on Huawei BCS.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</a:rPr>
              <a:t>/rover — ESP32 Firmware (2,089 lines)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>WiFi AP + BLE + Web UI + REST API. GPS field mapping with path recording/replay. TAIDCENT 7-in-1 NPK sensor via Modbus RS485. Servo soil sampling. Huawei IoTDA MQTT. Autonomous navigation.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379</TotalTime>
  <Words>1752</Words>
  <Application>Microsoft Office PowerPoint</Application>
  <PresentationFormat>Custom</PresentationFormat>
  <Paragraphs>88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Calibri</vt:lpstr>
      <vt:lpstr>封面页_图片版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Niuhuan(Naomi)</dc:creator>
  <cp:lastModifiedBy>Masendi Aaron</cp:lastModifiedBy>
  <cp:revision>28</cp:revision>
  <dcterms:created xsi:type="dcterms:W3CDTF">2020-08-28T08:44:19Z</dcterms:created>
  <dcterms:modified xsi:type="dcterms:W3CDTF">2026-03-02T20:13:41Z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  <property fmtid="{D5CDD505-2E9C-101B-9397-08002B2CF9AE}" pid="9" name="KeyAssetLabel_HuaWei">
    <vt:lpwstr>{mB13CS4wiXdfg/K1XYdSNG8PcaW1V0}</vt:lpwstr>
  </property>
  <property fmtid="{D5CDD505-2E9C-101B-9397-08002B2CF9AE}" pid="10" name="_862901variable_0907_groupIDlong_2010">
    <vt:lpwstr>(1)mB13CS4wiXdfg/K1XYdSNG8PcaW1V0e2q8BrYa5isloMc4Oui+V9IDM9yxo1eYa+N97QSHNb
gZAKF0+ABMK0A1tP0b50SSzsxFmqadA10WrfNU0NFTFpgrS2WCf1pCxMMNjow1Hg6STPWuPE
C68EIdnVIoKirz7gPqcsfx6GsfA=</vt:lpwstr>
  </property>
</Properties>
</file>